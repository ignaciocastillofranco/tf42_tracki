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Plus Jakarta Sans"/>
      <p:regular r:id="rId22"/>
      <p:bold r:id="rId23"/>
      <p:italic r:id="rId24"/>
      <p:boldItalic r:id="rId25"/>
    </p:embeddedFont>
    <p:embeddedFont>
      <p:font typeface="JetBrains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B50BC7-FFCA-4594-886D-90830B764FF4}">
  <a:tblStyle styleId="{D8B50BC7-FFCA-4594-886D-90830B764FF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lusJakartaSans-regular.fntdata"/><Relationship Id="rId21" Type="http://schemas.openxmlformats.org/officeDocument/2006/relationships/slide" Target="slides/slide15.xml"/><Relationship Id="rId24" Type="http://schemas.openxmlformats.org/officeDocument/2006/relationships/font" Target="fonts/PlusJakartaSans-italic.fntdata"/><Relationship Id="rId23" Type="http://schemas.openxmlformats.org/officeDocument/2006/relationships/font" Target="fonts/PlusJakarta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JetBrainsMono-regular.fntdata"/><Relationship Id="rId25" Type="http://schemas.openxmlformats.org/officeDocument/2006/relationships/font" Target="fonts/PlusJakartaSans-boldItalic.fntdata"/><Relationship Id="rId28" Type="http://schemas.openxmlformats.org/officeDocument/2006/relationships/font" Target="fonts/JetBrainsMono-italic.fntdata"/><Relationship Id="rId27" Type="http://schemas.openxmlformats.org/officeDocument/2006/relationships/font" Target="fonts/JetBrainsMon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JetBrainsMon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image" Target="../media/image3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5467350"/>
            <a:ext cx="106680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62000" y="5467350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762000" y="685800"/>
            <a:ext cx="1885950" cy="304800"/>
          </a:xfrm>
          <a:prstGeom prst="roundRect">
            <a:avLst>
              <a:gd fmla="val 18750" name="adj"/>
            </a:avLst>
          </a:prstGeom>
          <a:solidFill>
            <a:srgbClr val="081F31"/>
          </a:solidFill>
          <a:ln cap="flat" cmpd="sng" w="95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0515600" y="752475"/>
            <a:ext cx="12001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30 MIN + Q&amp;A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2464147"/>
            <a:ext cx="11430000" cy="56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AlquilaVehículo S.L.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3205162"/>
            <a:ext cx="10626328" cy="321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 una reserva a una operación completa en Salesforce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3774727"/>
            <a:ext cx="9048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Arquitectura desacoplada, lógica bulk-safe y automatización financiera sobre Core CRM.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895350" y="742950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NTT DATA CHALLENGE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2762250" y="752475"/>
            <a:ext cx="2238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Defensa Técnica de Solución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62000" y="5743575"/>
            <a:ext cx="18454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AUTOR DEL PROYECTO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762000" y="5953125"/>
            <a:ext cx="184546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Ignacio Castillo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7858125" y="5762625"/>
            <a:ext cx="2143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ENFOQUE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7858125" y="5972175"/>
            <a:ext cx="21431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Enterprise Architecture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9877425" y="5762625"/>
            <a:ext cx="194071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TECNOLOGÍA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9877425" y="5972175"/>
            <a:ext cx="194071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LWC + Apex Services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/>
          <p:nvPr/>
        </p:nvSpPr>
        <p:spPr>
          <a:xfrm>
            <a:off x="685800" y="5762625"/>
            <a:ext cx="10820400" cy="5619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685800" y="2527101"/>
            <a:ext cx="3454449" cy="1918096"/>
          </a:xfrm>
          <a:prstGeom prst="roundRect">
            <a:avLst>
              <a:gd fmla="val 595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4368849" y="2527101"/>
            <a:ext cx="3454449" cy="1918096"/>
          </a:xfrm>
          <a:prstGeom prst="roundRect">
            <a:avLst>
              <a:gd fmla="val 595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8051899" y="2527101"/>
            <a:ext cx="3454449" cy="1918096"/>
          </a:xfrm>
          <a:prstGeom prst="roundRect">
            <a:avLst>
              <a:gd fmla="val 595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685800" y="5762625"/>
            <a:ext cx="38100" cy="5619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025" y="280332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5074" y="280332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28124" y="280332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2908101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9374" y="2908101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51949" y="2908101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01. CONTEXTO OPERATIVO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Problema de Negocio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952500" y="5934075"/>
            <a:ext cx="827484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Desafío central: Garantizar idénticas reglas en UI, cargas masivas e integraciones.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0363200" y="5957887"/>
            <a:ext cx="12001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SERVER-FIRST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962025" y="3317676"/>
            <a:ext cx="380887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Flota e Inventario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962025" y="3689151"/>
            <a:ext cx="2997249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Control estricto sin solapamientos temporales de reservas.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4645074" y="3317676"/>
            <a:ext cx="380887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Precios Dinámicos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4645074" y="3689151"/>
            <a:ext cx="2997249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Cálculo por temporada, fidelidad del cliente y retrasos.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8328124" y="3317676"/>
            <a:ext cx="380887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Finanzas y Control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8328124" y="3689151"/>
            <a:ext cx="2997249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Aprobaciones multinivel y facturación asíncrona trazable.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/>
          <p:nvPr/>
        </p:nvSpPr>
        <p:spPr>
          <a:xfrm>
            <a:off x="685800" y="5800725"/>
            <a:ext cx="10820400" cy="523875"/>
          </a:xfrm>
          <a:prstGeom prst="roundRect">
            <a:avLst>
              <a:gd fmla="val 14545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685800" y="2176462"/>
            <a:ext cx="3505200" cy="1371600"/>
          </a:xfrm>
          <a:prstGeom prst="roundRect">
            <a:avLst>
              <a:gd fmla="val 694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4343400" y="2176462"/>
            <a:ext cx="3505200" cy="1371600"/>
          </a:xfrm>
          <a:prstGeom prst="roundRect">
            <a:avLst>
              <a:gd fmla="val 694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8001000" y="2176462"/>
            <a:ext cx="3505200" cy="1371600"/>
          </a:xfrm>
          <a:prstGeom prst="roundRect">
            <a:avLst>
              <a:gd fmla="val 694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685800" y="3681412"/>
            <a:ext cx="3505200" cy="1152525"/>
          </a:xfrm>
          <a:prstGeom prst="roundRect">
            <a:avLst>
              <a:gd fmla="val 826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4343400" y="3681412"/>
            <a:ext cx="3505200" cy="1152525"/>
          </a:xfrm>
          <a:prstGeom prst="roundRect">
            <a:avLst>
              <a:gd fmla="val 826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8001000" y="3681412"/>
            <a:ext cx="3505200" cy="1152525"/>
          </a:xfrm>
          <a:prstGeom prst="roundRect">
            <a:avLst>
              <a:gd fmla="val 826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02. ALCANCE FUNCIONAL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Ciclo Completo de Alquiler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952500" y="5953125"/>
            <a:ext cx="220265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Resultado Operativo: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5772150" y="5953125"/>
            <a:ext cx="64198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Eliminación de errores manuales y trazabilidad absoluta de la reserva.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895350" y="2366962"/>
            <a:ext cx="318135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PASO 01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4552950" y="2366962"/>
            <a:ext cx="318135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PASO 02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8210550" y="2366962"/>
            <a:ext cx="318135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PASO 03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895350" y="3871912"/>
            <a:ext cx="31813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PASO 04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4552950" y="3871912"/>
            <a:ext cx="31813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PASO 05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8210550" y="3871912"/>
            <a:ext cx="31813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PASO 06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904875" y="2633662"/>
            <a:ext cx="402550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Búsqueda Global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904875" y="2909887"/>
            <a:ext cx="383381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Filtro dinámico de flota disponible.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4562475" y="2633662"/>
            <a:ext cx="402550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Selección y Cliente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4562475" y="2909887"/>
            <a:ext cx="31623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Asociación a cuenta y fechas deseadas.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8220075" y="2633662"/>
            <a:ext cx="39719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Simulación en Vivo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8220075" y="2909887"/>
            <a:ext cx="383381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Cálculo reactivo en memoria sin DML.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904875" y="4138612"/>
            <a:ext cx="402550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Persistencia Validada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904875" y="4414837"/>
            <a:ext cx="383381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Garantía de reglas en Apex Trigger.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4562475" y="4138612"/>
            <a:ext cx="402550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Aprobación por Umbral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4562475" y="4414837"/>
            <a:ext cx="383381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Bloqueo automático según importe.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8220075" y="4138612"/>
            <a:ext cx="39719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Factura Asíncrona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8220075" y="4414837"/>
            <a:ext cx="383381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Job en cola con log de proceso.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/>
          <p:nvPr/>
        </p:nvSpPr>
        <p:spPr>
          <a:xfrm>
            <a:off x="685800" y="5962650"/>
            <a:ext cx="108204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685800" y="2238375"/>
            <a:ext cx="10820400" cy="638175"/>
          </a:xfrm>
          <a:prstGeom prst="roundRect">
            <a:avLst>
              <a:gd fmla="val 14925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685800" y="5962650"/>
            <a:ext cx="10820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685800" y="3048000"/>
            <a:ext cx="5314950" cy="895350"/>
          </a:xfrm>
          <a:prstGeom prst="roundRect">
            <a:avLst>
              <a:gd fmla="val 10638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6191250" y="3048000"/>
            <a:ext cx="5314950" cy="895350"/>
          </a:xfrm>
          <a:prstGeom prst="roundRect">
            <a:avLst>
              <a:gd fmla="val 10638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685800" y="4114800"/>
            <a:ext cx="2590800" cy="819150"/>
          </a:xfrm>
          <a:prstGeom prst="roundRect">
            <a:avLst>
              <a:gd fmla="val 11627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3429000" y="4114800"/>
            <a:ext cx="2590800" cy="819150"/>
          </a:xfrm>
          <a:prstGeom prst="roundRect">
            <a:avLst>
              <a:gd fmla="val 11627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6172200" y="4114800"/>
            <a:ext cx="2590800" cy="819150"/>
          </a:xfrm>
          <a:prstGeom prst="roundRect">
            <a:avLst>
              <a:gd fmla="val 11627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8915400" y="4114800"/>
            <a:ext cx="2590800" cy="819150"/>
          </a:xfrm>
          <a:prstGeom prst="roundRect">
            <a:avLst>
              <a:gd fmla="val 11627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7534275" y="2400300"/>
            <a:ext cx="1828800" cy="314325"/>
          </a:xfrm>
          <a:prstGeom prst="roundRect">
            <a:avLst>
              <a:gd fmla="val 18181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9553575" y="2400300"/>
            <a:ext cx="1638300" cy="314325"/>
          </a:xfrm>
          <a:prstGeom prst="roundRect">
            <a:avLst>
              <a:gd fmla="val 18181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03. ARQUITECTURA SALESFORCE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Patrón Trigger-Handler-Service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685800" y="6124575"/>
            <a:ext cx="21074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✓ Un trigger por objeto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3910012" y="6124575"/>
            <a:ext cx="3429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✓ Cero lógica en el cuerpo del trigger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8191500" y="6124575"/>
            <a:ext cx="4000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✓ Servicios desacoplados y 100% testeables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1000125" y="2471737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CAPA PRESENTACIÓN (UI)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211931" y="3238500"/>
            <a:ext cx="626268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ORQUESTACIÓN APEX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5717381" y="3238500"/>
            <a:ext cx="626268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ENRUTAMIENTO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533400" y="42862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D4E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BEFORE INSERT / UPDATE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3276600" y="42862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D4E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BEFORE INSERT / UPDATE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6019800" y="42862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AFTER INSERT / UPDATE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8763000" y="42862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QUEUEABLE ASYNC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7686675" y="2457450"/>
            <a:ext cx="1619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vrtRentalConsole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9705975" y="2457450"/>
            <a:ext cx="1428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vrtFleetSearch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271462" y="3524250"/>
            <a:ext cx="61436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Apex Controllers (with sharing)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5776912" y="3524250"/>
            <a:ext cx="61436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VRT_TRG_Rental &amp; Handler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588168" y="4552950"/>
            <a:ext cx="278606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PricingEngine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3331368" y="4552950"/>
            <a:ext cx="278606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AvailabilityManager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6074568" y="4552950"/>
            <a:ext cx="278606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4532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ApprovalManager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8817768" y="4552950"/>
            <a:ext cx="278606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4532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InvoiceGenerator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"/>
          <p:cNvSpPr/>
          <p:nvPr/>
        </p:nvSpPr>
        <p:spPr>
          <a:xfrm>
            <a:off x="685800" y="5829300"/>
            <a:ext cx="10820400" cy="495300"/>
          </a:xfrm>
          <a:prstGeom prst="roundRect">
            <a:avLst>
              <a:gd fmla="val 15384" name="adj"/>
            </a:avLst>
          </a:prstGeom>
          <a:solidFill>
            <a:srgbClr val="ECFDF5"/>
          </a:solidFill>
          <a:ln cap="flat" cmpd="sng" w="9525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7" name="Google Shape;197;p17"/>
          <p:cNvGraphicFramePr/>
          <p:nvPr/>
        </p:nvGraphicFramePr>
        <p:xfrm>
          <a:off x="685800" y="18049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{D8B50BC7-FFCA-4594-886D-90830B764FF4}</a:tableStyleId>
              </a:tblPr>
              <a:tblGrid>
                <a:gridCol w="1583075"/>
                <a:gridCol w="2835775"/>
                <a:gridCol w="6401550"/>
              </a:tblGrid>
              <a:tr h="489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ÁREA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OBJETO SALESFORCE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RESPONSABILIDAD PRINCIPAL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89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Cliente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284C7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Account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Historial de alquileres y fidelidad acumulada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9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Flota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284C7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VRT_Vehicle__c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Tipo de vehículo, estado operativo y matrícula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489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Reserva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284C7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VRT_Rental__c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Fechas, costes calculados y estado de aprobación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9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Tarifas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284C7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VRT_Tarifa__c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Precios configurables por temporada y categoría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489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Finanzas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284C7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VRT_Factura__c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Comprobante emitido con importe y referencia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9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Auditoría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284C7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VRT_LogProceso__c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Trazabilidad de ejecuciones y fallos asíncronos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98" name="Google Shape;198;p17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04. MODELO DE DATOS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Entidades y Responsabilidades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885825" y="5972175"/>
            <a:ext cx="113061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65F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Decisión clave: Las tarifas son datos administrables por negocio, no constantes fijas en el código.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"/>
          <p:cNvSpPr/>
          <p:nvPr/>
        </p:nvSpPr>
        <p:spPr>
          <a:xfrm>
            <a:off x="685800" y="1843385"/>
            <a:ext cx="10820400" cy="1527720"/>
          </a:xfrm>
          <a:prstGeom prst="roundRect">
            <a:avLst>
              <a:gd fmla="val 6234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685800" y="4004816"/>
            <a:ext cx="3479750" cy="1485900"/>
          </a:xfrm>
          <a:prstGeom prst="roundRect">
            <a:avLst>
              <a:gd fmla="val 641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4356050" y="4004816"/>
            <a:ext cx="3479750" cy="1485900"/>
          </a:xfrm>
          <a:prstGeom prst="roundRect">
            <a:avLst>
              <a:gd fmla="val 641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8026300" y="4004816"/>
            <a:ext cx="3479750" cy="1485900"/>
          </a:xfrm>
          <a:prstGeom prst="roundRect">
            <a:avLst>
              <a:gd fmla="val 641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9" name="Google Shape;20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148238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8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05. LÓGICA DE PRECIOS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Motor de Precios Dinámicos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990600" y="2071985"/>
            <a:ext cx="11201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VRT_SRV_PricingEngine.calculateTotalCost(List)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990600" y="2319635"/>
            <a:ext cx="103060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costeBase = tarifaPorDia * duracion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costeConFidelidad = costeBase * 0.95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costeTotal = costeConFidelidad + penalizacionRetraso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914400" y="4233416"/>
            <a:ext cx="3117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MATRIZ TARIFA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4584650" y="4233416"/>
            <a:ext cx="3117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FIDELIZACIÓN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8254900" y="4233416"/>
            <a:ext cx="3117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PENALIZACIONES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971550" y="6124426"/>
            <a:ext cx="863203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Diseño bulk-safe nativo: recibe colecciones de reservas y ejecuta sin consultas SOQL iterativas.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923925" y="4519166"/>
            <a:ext cx="394209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Temporada + Tipo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923925" y="4814441"/>
            <a:ext cx="30987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Indexada por fecha de inicio y tipo de vehículo.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4594175" y="4519166"/>
            <a:ext cx="394209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Descuento 5%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4594175" y="4814441"/>
            <a:ext cx="30987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Aplica desde 3 alquileres en los últimos 12 meses.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8264425" y="4519166"/>
            <a:ext cx="392757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Recargo 25%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8264425" y="4814441"/>
            <a:ext cx="30987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 cada día de retraso en la entrega pactada.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"/>
          <p:cNvSpPr/>
          <p:nvPr/>
        </p:nvSpPr>
        <p:spPr>
          <a:xfrm>
            <a:off x="685800" y="5800725"/>
            <a:ext cx="10820400" cy="523875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685800" y="1666875"/>
            <a:ext cx="5798492" cy="3676650"/>
          </a:xfrm>
          <a:prstGeom prst="roundRect">
            <a:avLst>
              <a:gd fmla="val 3108" name="adj"/>
            </a:avLst>
          </a:prstGeom>
          <a:solidFill>
            <a:srgbClr val="090D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685800" y="5800725"/>
            <a:ext cx="38100" cy="52387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990600" y="2743200"/>
            <a:ext cx="5188892" cy="1295400"/>
          </a:xfrm>
          <a:prstGeom prst="roundRect">
            <a:avLst>
              <a:gd fmla="val 5882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789092" y="1666875"/>
            <a:ext cx="4717107" cy="1123950"/>
          </a:xfrm>
          <a:prstGeom prst="roundRect">
            <a:avLst>
              <a:gd fmla="val 847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6789092" y="2943225"/>
            <a:ext cx="4717107" cy="1123950"/>
          </a:xfrm>
          <a:prstGeom prst="roundRect">
            <a:avLst>
              <a:gd fmla="val 847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6789092" y="4219575"/>
            <a:ext cx="4717107" cy="1123950"/>
          </a:xfrm>
          <a:prstGeom prst="roundRect">
            <a:avLst>
              <a:gd fmla="val 847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06. INTEGRIDAD DEL INVENTARIO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Disponibilidad y Detección de Solapamientos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952500" y="5953125"/>
            <a:ext cx="112395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Principio rector: La UI ayuda en tiempo real; el Trigger garantiza la integridad absoluta.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990600" y="2419350"/>
            <a:ext cx="648611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CRITERIO MATEMÁTICO DE SOLAPAMIENTO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1181100" y="2933700"/>
            <a:ext cx="490314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inicio_nuevo &lt; fin_existente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fin_nuevo &gt; inicio_existente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990600" y="4191000"/>
            <a:ext cx="528414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Permite continuidad perfecta: un alquiler puede comenzar el mismo día en que finaliza el anterior.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6989117" y="1866900"/>
            <a:ext cx="520288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Consulta Única Agrupada</a:t>
            </a:r>
            <a:endParaRPr/>
          </a:p>
        </p:txBody>
      </p:sp>
      <p:sp>
        <p:nvSpPr>
          <p:cNvPr id="242" name="Google Shape;242;p19"/>
          <p:cNvSpPr txBox="1"/>
          <p:nvPr/>
        </p:nvSpPr>
        <p:spPr>
          <a:xfrm>
            <a:off x="6989117" y="2152650"/>
            <a:ext cx="441230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Una sola query SOQL por lote agrupando vehículos por Set de IDs.</a:t>
            </a:r>
            <a:endParaRPr/>
          </a:p>
        </p:txBody>
      </p:sp>
      <p:sp>
        <p:nvSpPr>
          <p:cNvPr id="243" name="Google Shape;243;p19"/>
          <p:cNvSpPr txBox="1"/>
          <p:nvPr/>
        </p:nvSpPr>
        <p:spPr>
          <a:xfrm>
            <a:off x="6989117" y="3143250"/>
            <a:ext cx="520288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Doble Validación</a:t>
            </a:r>
            <a:endParaRPr/>
          </a:p>
        </p:txBody>
      </p:sp>
      <p:sp>
        <p:nvSpPr>
          <p:cNvPr id="244" name="Google Shape;244;p19"/>
          <p:cNvSpPr txBox="1"/>
          <p:nvPr/>
        </p:nvSpPr>
        <p:spPr>
          <a:xfrm>
            <a:off x="6989117" y="3429000"/>
            <a:ext cx="441230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Detecta conflictos contra la base de datos y dentro del mismo batch en memoria.</a:t>
            </a:r>
            <a:endParaRPr/>
          </a:p>
        </p:txBody>
      </p:sp>
      <p:sp>
        <p:nvSpPr>
          <p:cNvPr id="245" name="Google Shape;245;p19"/>
          <p:cNvSpPr txBox="1"/>
          <p:nvPr/>
        </p:nvSpPr>
        <p:spPr>
          <a:xfrm>
            <a:off x="6989117" y="4419600"/>
            <a:ext cx="520288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addError() Granular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6989117" y="4705350"/>
            <a:ext cx="441230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Bloquea exclusivamente el registro conflictivo sin abortar el lote completo.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"/>
          <p:cNvSpPr/>
          <p:nvPr/>
        </p:nvSpPr>
        <p:spPr>
          <a:xfrm>
            <a:off x="685800" y="5457825"/>
            <a:ext cx="10820400" cy="866775"/>
          </a:xfrm>
          <a:prstGeom prst="roundRect">
            <a:avLst>
              <a:gd fmla="val 879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685800" y="1985962"/>
            <a:ext cx="5276850" cy="2695575"/>
          </a:xfrm>
          <a:prstGeom prst="roundRect">
            <a:avLst>
              <a:gd fmla="val 424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6229350" y="1985962"/>
            <a:ext cx="5276850" cy="2695575"/>
          </a:xfrm>
          <a:prstGeom prst="roundRect">
            <a:avLst>
              <a:gd fmla="val 424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9248775" y="5729287"/>
            <a:ext cx="2019300" cy="323850"/>
          </a:xfrm>
          <a:prstGeom prst="roundRect">
            <a:avLst>
              <a:gd fmla="val 1764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1000125" y="3976687"/>
            <a:ext cx="4648200" cy="390525"/>
          </a:xfrm>
          <a:prstGeom prst="roundRect">
            <a:avLst>
              <a:gd fmla="val 14634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6543675" y="3976687"/>
            <a:ext cx="4648200" cy="390525"/>
          </a:xfrm>
          <a:prstGeom prst="roundRect">
            <a:avLst>
              <a:gd fmla="val 14634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07. GOBIERNO FINANCIERO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Aprobaciones por Umbral de Importe</a:t>
            </a: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9382125" y="5805487"/>
            <a:ext cx="18478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VRT_SRV_ApprovalManager</a:t>
            </a:r>
            <a:endParaRPr/>
          </a:p>
        </p:txBody>
      </p:sp>
      <p:sp>
        <p:nvSpPr>
          <p:cNvPr id="260" name="Google Shape;260;p20"/>
          <p:cNvSpPr txBox="1"/>
          <p:nvPr/>
        </p:nvSpPr>
        <p:spPr>
          <a:xfrm>
            <a:off x="1000125" y="2300287"/>
            <a:ext cx="47434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NIVEL 1 DE CONTROL</a:t>
            </a:r>
            <a:endParaRPr/>
          </a:p>
        </p:txBody>
      </p:sp>
      <p:sp>
        <p:nvSpPr>
          <p:cNvPr id="261" name="Google Shape;261;p20"/>
          <p:cNvSpPr txBox="1"/>
          <p:nvPr/>
        </p:nvSpPr>
        <p:spPr>
          <a:xfrm>
            <a:off x="1152525" y="4071937"/>
            <a:ext cx="44386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240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Flujo declarativo Salesforce</a:t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6543675" y="2300287"/>
            <a:ext cx="47434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NIVEL 2 DE CONTROL</a:t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6696075" y="4071937"/>
            <a:ext cx="44386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Auditoría y trazabilidad estricta</a:t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923925" y="5657850"/>
            <a:ext cx="1008876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¿Por qué motor declarativo de aprobaciones?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923925" y="5915025"/>
            <a:ext cx="960834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Apex evalúa cuándo someter a aprobación; Salesforce gestiona los aprobadores y el bloqueo nativo.</a:t>
            </a:r>
            <a:endParaRPr/>
          </a:p>
        </p:txBody>
      </p:sp>
      <p:sp>
        <p:nvSpPr>
          <p:cNvPr id="266" name="Google Shape;266;p20"/>
          <p:cNvSpPr txBox="1"/>
          <p:nvPr/>
        </p:nvSpPr>
        <p:spPr>
          <a:xfrm>
            <a:off x="1000125" y="2614612"/>
            <a:ext cx="58102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&gt; 3.000 €</a:t>
            </a:r>
            <a:endParaRPr/>
          </a:p>
        </p:txBody>
      </p:sp>
      <p:sp>
        <p:nvSpPr>
          <p:cNvPr id="267" name="Google Shape;267;p20"/>
          <p:cNvSpPr txBox="1"/>
          <p:nvPr/>
        </p:nvSpPr>
        <p:spPr>
          <a:xfrm>
            <a:off x="1000125" y="3186112"/>
            <a:ext cx="610076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Aprobación de Gerencia</a:t>
            </a:r>
            <a:endParaRPr/>
          </a:p>
        </p:txBody>
      </p:sp>
      <p:sp>
        <p:nvSpPr>
          <p:cNvPr id="268" name="Google Shape;268;p20"/>
          <p:cNvSpPr txBox="1"/>
          <p:nvPr/>
        </p:nvSpPr>
        <p:spPr>
          <a:xfrm>
            <a:off x="1000125" y="3538537"/>
            <a:ext cx="4743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Bloqueo automático del registro hasta obtener autorización del responsable.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6543675" y="2614612"/>
            <a:ext cx="56483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&gt; 10.000 €</a:t>
            </a:r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6543675" y="3186112"/>
            <a:ext cx="56483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Gerente + Responsable Financiero</a:t>
            </a:r>
            <a:endParaRPr/>
          </a:p>
        </p:txBody>
      </p:sp>
      <p:sp>
        <p:nvSpPr>
          <p:cNvPr id="271" name="Google Shape;271;p20"/>
          <p:cNvSpPr txBox="1"/>
          <p:nvPr/>
        </p:nvSpPr>
        <p:spPr>
          <a:xfrm>
            <a:off x="6543675" y="3538537"/>
            <a:ext cx="4743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Doble paso secuencial de aprobación para operaciones de alto volumen.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1"/>
          <p:cNvSpPr/>
          <p:nvPr/>
        </p:nvSpPr>
        <p:spPr>
          <a:xfrm>
            <a:off x="5943600" y="1876425"/>
            <a:ext cx="5562600" cy="3581400"/>
          </a:xfrm>
          <a:prstGeom prst="roundRect">
            <a:avLst>
              <a:gd fmla="val 319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685800" y="1876425"/>
            <a:ext cx="4953000" cy="1104900"/>
          </a:xfrm>
          <a:prstGeom prst="roundRect">
            <a:avLst>
              <a:gd fmla="val 862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685800" y="3114675"/>
            <a:ext cx="4953000" cy="1104900"/>
          </a:xfrm>
          <a:prstGeom prst="roundRect">
            <a:avLst>
              <a:gd fmla="val 862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685800" y="4352925"/>
            <a:ext cx="4953000" cy="1104900"/>
          </a:xfrm>
          <a:prstGeom prst="roundRect">
            <a:avLst>
              <a:gd fmla="val 862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6248400" y="4667250"/>
            <a:ext cx="4953000" cy="485775"/>
          </a:xfrm>
          <a:prstGeom prst="roundRect">
            <a:avLst>
              <a:gd fmla="val 15686" name="adj"/>
            </a:avLst>
          </a:prstGeom>
          <a:solidFill>
            <a:srgbClr val="1D2537"/>
          </a:solidFill>
          <a:ln cap="flat" cmpd="sng" w="9525">
            <a:solidFill>
              <a:srgbClr val="2C33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08. EXPERIENCIA DE USUARIO (UX)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Consola Operativa LWC: vrtRentalConsole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685800" y="6124575"/>
            <a:ext cx="30241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Componente: force:hasRecordId</a:t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7648575" y="6124575"/>
            <a:ext cx="45434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Interacción: Lightning Data Service + Imperative Apex</a:t>
            </a:r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6248400" y="2181225"/>
            <a:ext cx="5048250" cy="1552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ARQUITECTURA DE SIMULACIÓN</a:t>
            </a:r>
            <a:endParaRPr/>
          </a:p>
        </p:txBody>
      </p:sp>
      <p:sp>
        <p:nvSpPr>
          <p:cNvPr id="286" name="Google Shape;286;p21"/>
          <p:cNvSpPr txBox="1"/>
          <p:nvPr/>
        </p:nvSpPr>
        <p:spPr>
          <a:xfrm>
            <a:off x="885825" y="2076450"/>
            <a:ext cx="59757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Integrada en Account</a:t>
            </a:r>
            <a:endParaRPr/>
          </a:p>
        </p:txBody>
      </p:sp>
      <p:sp>
        <p:nvSpPr>
          <p:cNvPr id="287" name="Google Shape;287;p21"/>
          <p:cNvSpPr txBox="1"/>
          <p:nvPr/>
        </p:nvSpPr>
        <p:spPr>
          <a:xfrm>
            <a:off x="885825" y="2343150"/>
            <a:ext cx="46482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Visión 360° con KPIs agregados de gasto y fidelidad en tiempo real.</a:t>
            </a:r>
            <a:endParaRPr/>
          </a:p>
        </p:txBody>
      </p:sp>
      <p:sp>
        <p:nvSpPr>
          <p:cNvPr id="288" name="Google Shape;288;p21"/>
          <p:cNvSpPr txBox="1"/>
          <p:nvPr/>
        </p:nvSpPr>
        <p:spPr>
          <a:xfrm>
            <a:off x="885825" y="3314700"/>
            <a:ext cx="59757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Creación Inline Reactiva</a:t>
            </a:r>
            <a:endParaRPr/>
          </a:p>
        </p:txBody>
      </p:sp>
      <p:sp>
        <p:nvSpPr>
          <p:cNvPr id="289" name="Google Shape;289;p21"/>
          <p:cNvSpPr txBox="1"/>
          <p:nvPr/>
        </p:nvSpPr>
        <p:spPr>
          <a:xfrm>
            <a:off x="885825" y="3581400"/>
            <a:ext cx="46482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Filtros dinámicos sin refrescar la página ni perder el contexto de trabajo.</a:t>
            </a:r>
            <a:endParaRPr/>
          </a:p>
        </p:txBody>
      </p:sp>
      <p:sp>
        <p:nvSpPr>
          <p:cNvPr id="290" name="Google Shape;290;p21"/>
          <p:cNvSpPr txBox="1"/>
          <p:nvPr/>
        </p:nvSpPr>
        <p:spPr>
          <a:xfrm>
            <a:off x="885825" y="4552950"/>
            <a:ext cx="59757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Feedback Inmediato</a:t>
            </a:r>
            <a:endParaRPr/>
          </a:p>
        </p:txBody>
      </p:sp>
      <p:sp>
        <p:nvSpPr>
          <p:cNvPr id="291" name="Google Shape;291;p21"/>
          <p:cNvSpPr txBox="1"/>
          <p:nvPr/>
        </p:nvSpPr>
        <p:spPr>
          <a:xfrm>
            <a:off x="885825" y="4819650"/>
            <a:ext cx="46482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Visualización de errores de solapamiento antes de confirmar el guardado.</a:t>
            </a:r>
            <a:endParaRPr/>
          </a:p>
        </p:txBody>
      </p:sp>
      <p:sp>
        <p:nvSpPr>
          <p:cNvPr id="292" name="Google Shape;292;p21"/>
          <p:cNvSpPr txBox="1"/>
          <p:nvPr/>
        </p:nvSpPr>
        <p:spPr>
          <a:xfrm>
            <a:off x="6248400" y="2533650"/>
            <a:ext cx="59436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"Simular no es guardar"</a:t>
            </a:r>
            <a:endParaRPr/>
          </a:p>
        </p:txBody>
      </p:sp>
      <p:sp>
        <p:nvSpPr>
          <p:cNvPr id="293" name="Google Shape;293;p21"/>
          <p:cNvSpPr txBox="1"/>
          <p:nvPr/>
        </p:nvSpPr>
        <p:spPr>
          <a:xfrm>
            <a:off x="6248400" y="2962275"/>
            <a:ext cx="50482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LWC instancia un registro transitorio en memoria, inyecta la duración calculada y consume el motor de precios sin invocar sentencias DML ni bloquear la base de datos.</a:t>
            </a:r>
            <a:endParaRPr/>
          </a:p>
        </p:txBody>
      </p:sp>
      <p:sp>
        <p:nvSpPr>
          <p:cNvPr id="294" name="Google Shape;294;p21"/>
          <p:cNvSpPr txBox="1"/>
          <p:nvPr/>
        </p:nvSpPr>
        <p:spPr>
          <a:xfrm>
            <a:off x="6429375" y="4810125"/>
            <a:ext cx="57388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Resultado: Cero registros basura y respuesta en milisegundos.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2"/>
          <p:cNvSpPr/>
          <p:nvPr/>
        </p:nvSpPr>
        <p:spPr>
          <a:xfrm>
            <a:off x="685800" y="5743575"/>
            <a:ext cx="10820400" cy="581025"/>
          </a:xfrm>
          <a:prstGeom prst="roundRect">
            <a:avLst>
              <a:gd fmla="val 13114" name="adj"/>
            </a:avLst>
          </a:prstGeom>
          <a:solidFill>
            <a:srgbClr val="E0F2FE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685800" y="2433637"/>
            <a:ext cx="3479750" cy="2085975"/>
          </a:xfrm>
          <a:prstGeom prst="roundRect">
            <a:avLst>
              <a:gd fmla="val 456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2"/>
          <p:cNvSpPr/>
          <p:nvPr/>
        </p:nvSpPr>
        <p:spPr>
          <a:xfrm>
            <a:off x="4356050" y="2433637"/>
            <a:ext cx="3479750" cy="2085975"/>
          </a:xfrm>
          <a:prstGeom prst="roundRect">
            <a:avLst>
              <a:gd fmla="val 456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8026300" y="2433637"/>
            <a:ext cx="3479750" cy="2085975"/>
          </a:xfrm>
          <a:prstGeom prst="roundRect">
            <a:avLst>
              <a:gd fmla="val 456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3" name="Google Shape;30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593883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2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09. BÚSQUEDA Y RENDIMIENTO</a:t>
            </a:r>
            <a:endParaRPr/>
          </a:p>
        </p:txBody>
      </p:sp>
      <p:sp>
        <p:nvSpPr>
          <p:cNvPr id="305" name="Google Shape;305;p22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Buscador Global: vrtFleetSearch</a:t>
            </a:r>
            <a:endParaRPr/>
          </a:p>
        </p:txBody>
      </p:sp>
      <p:sp>
        <p:nvSpPr>
          <p:cNvPr id="306" name="Google Shape;306;p22"/>
          <p:cNvSpPr txBox="1"/>
          <p:nvPr/>
        </p:nvSpPr>
        <p:spPr>
          <a:xfrm>
            <a:off x="1266825" y="5924550"/>
            <a:ext cx="1082278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Disponible globalmente desde la Home de Salesforce para consulta rápida de cualquier agente comercial.</a:t>
            </a:r>
            <a:endParaRPr/>
          </a:p>
        </p:txBody>
      </p:sp>
      <p:sp>
        <p:nvSpPr>
          <p:cNvPr id="307" name="Google Shape;307;p22"/>
          <p:cNvSpPr txBox="1"/>
          <p:nvPr/>
        </p:nvSpPr>
        <p:spPr>
          <a:xfrm>
            <a:off x="962025" y="2709862"/>
            <a:ext cx="302255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300 ms</a:t>
            </a:r>
            <a:endParaRPr/>
          </a:p>
        </p:txBody>
      </p:sp>
      <p:sp>
        <p:nvSpPr>
          <p:cNvPr id="308" name="Google Shape;308;p22"/>
          <p:cNvSpPr txBox="1"/>
          <p:nvPr/>
        </p:nvSpPr>
        <p:spPr>
          <a:xfrm>
            <a:off x="962025" y="4071937"/>
            <a:ext cx="3659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Optimización de Apex Limits</a:t>
            </a:r>
            <a:endParaRPr/>
          </a:p>
        </p:txBody>
      </p:sp>
      <p:sp>
        <p:nvSpPr>
          <p:cNvPr id="309" name="Google Shape;309;p22"/>
          <p:cNvSpPr txBox="1"/>
          <p:nvPr/>
        </p:nvSpPr>
        <p:spPr>
          <a:xfrm>
            <a:off x="4632275" y="2709862"/>
            <a:ext cx="30225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&gt;= 2 Cars</a:t>
            </a:r>
            <a:endParaRPr/>
          </a:p>
        </p:txBody>
      </p:sp>
      <p:sp>
        <p:nvSpPr>
          <p:cNvPr id="310" name="Google Shape;310;p22"/>
          <p:cNvSpPr txBox="1"/>
          <p:nvPr/>
        </p:nvSpPr>
        <p:spPr>
          <a:xfrm>
            <a:off x="4632275" y="4071937"/>
            <a:ext cx="3659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Indexación SOQL eficiente</a:t>
            </a:r>
            <a:endParaRPr/>
          </a:p>
        </p:txBody>
      </p:sp>
      <p:sp>
        <p:nvSpPr>
          <p:cNvPr id="311" name="Google Shape;311;p22"/>
          <p:cNvSpPr txBox="1"/>
          <p:nvPr/>
        </p:nvSpPr>
        <p:spPr>
          <a:xfrm>
            <a:off x="8302525" y="2709862"/>
            <a:ext cx="302255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LIMIT 50</a:t>
            </a:r>
            <a:endParaRPr/>
          </a:p>
        </p:txBody>
      </p:sp>
      <p:sp>
        <p:nvSpPr>
          <p:cNvPr id="312" name="Google Shape;312;p22"/>
          <p:cNvSpPr txBox="1"/>
          <p:nvPr/>
        </p:nvSpPr>
        <p:spPr>
          <a:xfrm>
            <a:off x="8302525" y="4071937"/>
            <a:ext cx="3659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Lightning Navigation Service</a:t>
            </a:r>
            <a:endParaRPr/>
          </a:p>
        </p:txBody>
      </p:sp>
      <p:sp>
        <p:nvSpPr>
          <p:cNvPr id="313" name="Google Shape;313;p22"/>
          <p:cNvSpPr txBox="1"/>
          <p:nvPr/>
        </p:nvSpPr>
        <p:spPr>
          <a:xfrm>
            <a:off x="962025" y="3119437"/>
            <a:ext cx="384208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Debounce en Input</a:t>
            </a:r>
            <a:endParaRPr/>
          </a:p>
        </p:txBody>
      </p:sp>
      <p:sp>
        <p:nvSpPr>
          <p:cNvPr id="314" name="Google Shape;314;p22"/>
          <p:cNvSpPr txBox="1"/>
          <p:nvPr/>
        </p:nvSpPr>
        <p:spPr>
          <a:xfrm>
            <a:off x="962025" y="3414712"/>
            <a:ext cx="30225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Elimina consultas innecesarias en cada pulsación de teclado del operador.</a:t>
            </a:r>
            <a:endParaRPr/>
          </a:p>
        </p:txBody>
      </p:sp>
      <p:sp>
        <p:nvSpPr>
          <p:cNvPr id="315" name="Google Shape;315;p22"/>
          <p:cNvSpPr txBox="1"/>
          <p:nvPr/>
        </p:nvSpPr>
        <p:spPr>
          <a:xfrm>
            <a:off x="4632275" y="3119437"/>
            <a:ext cx="384208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Filtro de Umbral</a:t>
            </a:r>
            <a:endParaRPr/>
          </a:p>
        </p:txBody>
      </p:sp>
      <p:sp>
        <p:nvSpPr>
          <p:cNvPr id="316" name="Google Shape;316;p22"/>
          <p:cNvSpPr txBox="1"/>
          <p:nvPr/>
        </p:nvSpPr>
        <p:spPr>
          <a:xfrm>
            <a:off x="4632275" y="3414712"/>
            <a:ext cx="30225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Evita búsquedas vacías o masivas que degraden la base de datos.</a:t>
            </a:r>
            <a:endParaRPr/>
          </a:p>
        </p:txBody>
      </p:sp>
      <p:sp>
        <p:nvSpPr>
          <p:cNvPr id="317" name="Google Shape;317;p22"/>
          <p:cNvSpPr txBox="1"/>
          <p:nvPr/>
        </p:nvSpPr>
        <p:spPr>
          <a:xfrm>
            <a:off x="8302525" y="3119437"/>
            <a:ext cx="384208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Límite de Resultados</a:t>
            </a:r>
            <a:endParaRPr/>
          </a:p>
        </p:txBody>
      </p:sp>
      <p:sp>
        <p:nvSpPr>
          <p:cNvPr id="318" name="Google Shape;318;p22"/>
          <p:cNvSpPr txBox="1"/>
          <p:nvPr/>
        </p:nvSpPr>
        <p:spPr>
          <a:xfrm>
            <a:off x="8302525" y="3414712"/>
            <a:ext cx="30225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Presentación en tarjetas con estado, marca, modelo y navegación directa.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3"/>
          <p:cNvSpPr/>
          <p:nvPr/>
        </p:nvSpPr>
        <p:spPr>
          <a:xfrm>
            <a:off x="685800" y="5753100"/>
            <a:ext cx="10820400" cy="571500"/>
          </a:xfrm>
          <a:prstGeom prst="roundRect">
            <a:avLst>
              <a:gd fmla="val 13333" name="adj"/>
            </a:avLst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3"/>
          <p:cNvSpPr/>
          <p:nvPr/>
        </p:nvSpPr>
        <p:spPr>
          <a:xfrm>
            <a:off x="685800" y="2514600"/>
            <a:ext cx="2576512" cy="1933575"/>
          </a:xfrm>
          <a:prstGeom prst="roundRect">
            <a:avLst>
              <a:gd fmla="val 492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3"/>
          <p:cNvSpPr/>
          <p:nvPr/>
        </p:nvSpPr>
        <p:spPr>
          <a:xfrm>
            <a:off x="3433762" y="2514600"/>
            <a:ext cx="2576512" cy="1933575"/>
          </a:xfrm>
          <a:prstGeom prst="roundRect">
            <a:avLst>
              <a:gd fmla="val 492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3"/>
          <p:cNvSpPr/>
          <p:nvPr/>
        </p:nvSpPr>
        <p:spPr>
          <a:xfrm>
            <a:off x="6181725" y="2514600"/>
            <a:ext cx="2576512" cy="1933575"/>
          </a:xfrm>
          <a:prstGeom prst="roundRect">
            <a:avLst>
              <a:gd fmla="val 492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3"/>
          <p:cNvSpPr/>
          <p:nvPr/>
        </p:nvSpPr>
        <p:spPr>
          <a:xfrm>
            <a:off x="8929687" y="2514600"/>
            <a:ext cx="2576512" cy="1933575"/>
          </a:xfrm>
          <a:prstGeom prst="roundRect">
            <a:avLst>
              <a:gd fmla="val 492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3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10. ASINCRONÍA Y ESCALABILIDAD</a:t>
            </a:r>
            <a:endParaRPr/>
          </a:p>
        </p:txBody>
      </p:sp>
      <p:sp>
        <p:nvSpPr>
          <p:cNvPr id="329" name="Google Shape;329;p23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Facturación Asíncrona: Queueable Apex</a:t>
            </a:r>
            <a:endParaRPr/>
          </a:p>
        </p:txBody>
      </p:sp>
      <p:sp>
        <p:nvSpPr>
          <p:cNvPr id="330" name="Google Shape;330;p23"/>
          <p:cNvSpPr txBox="1"/>
          <p:nvPr/>
        </p:nvSpPr>
        <p:spPr>
          <a:xfrm>
            <a:off x="914400" y="2743200"/>
            <a:ext cx="2214562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FASE 1</a:t>
            </a:r>
            <a:endParaRPr/>
          </a:p>
        </p:txBody>
      </p:sp>
      <p:sp>
        <p:nvSpPr>
          <p:cNvPr id="331" name="Google Shape;331;p23"/>
          <p:cNvSpPr txBox="1"/>
          <p:nvPr/>
        </p:nvSpPr>
        <p:spPr>
          <a:xfrm>
            <a:off x="3662362" y="2743200"/>
            <a:ext cx="2214562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FASE 2</a:t>
            </a:r>
            <a:endParaRPr/>
          </a:p>
        </p:txBody>
      </p:sp>
      <p:sp>
        <p:nvSpPr>
          <p:cNvPr id="332" name="Google Shape;332;p23"/>
          <p:cNvSpPr txBox="1"/>
          <p:nvPr/>
        </p:nvSpPr>
        <p:spPr>
          <a:xfrm>
            <a:off x="6410325" y="2743200"/>
            <a:ext cx="2214562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FASE 3</a:t>
            </a:r>
            <a:endParaRPr/>
          </a:p>
        </p:txBody>
      </p:sp>
      <p:sp>
        <p:nvSpPr>
          <p:cNvPr id="333" name="Google Shape;333;p23"/>
          <p:cNvSpPr txBox="1"/>
          <p:nvPr/>
        </p:nvSpPr>
        <p:spPr>
          <a:xfrm>
            <a:off x="9158287" y="2743200"/>
            <a:ext cx="2214562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FASE 4</a:t>
            </a:r>
            <a:endParaRPr/>
          </a:p>
        </p:txBody>
      </p:sp>
      <p:sp>
        <p:nvSpPr>
          <p:cNvPr id="334" name="Google Shape;334;p23"/>
          <p:cNvSpPr txBox="1"/>
          <p:nvPr/>
        </p:nvSpPr>
        <p:spPr>
          <a:xfrm>
            <a:off x="923925" y="5934075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Trade-off de diseño:</a:t>
            </a:r>
            <a:endParaRPr/>
          </a:p>
        </p:txBody>
      </p:sp>
      <p:sp>
        <p:nvSpPr>
          <p:cNvPr id="335" name="Google Shape;335;p23"/>
          <p:cNvSpPr txBox="1"/>
          <p:nvPr/>
        </p:nvSpPr>
        <p:spPr>
          <a:xfrm>
            <a:off x="4657725" y="5934075"/>
            <a:ext cx="75342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Consistencia eventual comunicada al usuario a cambio de cero bloqueos en la interfaz.</a:t>
            </a:r>
            <a:endParaRPr/>
          </a:p>
        </p:txBody>
      </p:sp>
      <p:sp>
        <p:nvSpPr>
          <p:cNvPr id="336" name="Google Shape;336;p23"/>
          <p:cNvSpPr txBox="1"/>
          <p:nvPr/>
        </p:nvSpPr>
        <p:spPr>
          <a:xfrm>
            <a:off x="923925" y="3028950"/>
            <a:ext cx="275659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Encolado Job</a:t>
            </a:r>
            <a:endParaRPr/>
          </a:p>
        </p:txBody>
      </p:sp>
      <p:sp>
        <p:nvSpPr>
          <p:cNvPr id="337" name="Google Shape;337;p23"/>
          <p:cNvSpPr txBox="1"/>
          <p:nvPr/>
        </p:nvSpPr>
        <p:spPr>
          <a:xfrm>
            <a:off x="923925" y="3333750"/>
            <a:ext cx="2195512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Desacopla la transacción síncrona del usuario sin tiempos de espera en UI.</a:t>
            </a:r>
            <a:endParaRPr/>
          </a:p>
        </p:txBody>
      </p:sp>
      <p:sp>
        <p:nvSpPr>
          <p:cNvPr id="338" name="Google Shape;338;p23"/>
          <p:cNvSpPr txBox="1"/>
          <p:nvPr/>
        </p:nvSpPr>
        <p:spPr>
          <a:xfrm>
            <a:off x="3671887" y="3028950"/>
            <a:ext cx="275659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Anti-Duplicidad</a:t>
            </a:r>
            <a:endParaRPr/>
          </a:p>
        </p:txBody>
      </p:sp>
      <p:sp>
        <p:nvSpPr>
          <p:cNvPr id="339" name="Google Shape;339;p23"/>
          <p:cNvSpPr txBox="1"/>
          <p:nvPr/>
        </p:nvSpPr>
        <p:spPr>
          <a:xfrm>
            <a:off x="3671887" y="3333750"/>
            <a:ext cx="2195512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Comprueba facturas existentes previas para garantizar idempotencia operativa.</a:t>
            </a:r>
            <a:endParaRPr/>
          </a:p>
        </p:txBody>
      </p:sp>
      <p:sp>
        <p:nvSpPr>
          <p:cNvPr id="340" name="Google Shape;340;p23"/>
          <p:cNvSpPr txBox="1"/>
          <p:nvPr/>
        </p:nvSpPr>
        <p:spPr>
          <a:xfrm>
            <a:off x="6419850" y="3028950"/>
            <a:ext cx="275659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Proceso Parcial</a:t>
            </a:r>
            <a:endParaRPr/>
          </a:p>
        </p:txBody>
      </p:sp>
      <p:sp>
        <p:nvSpPr>
          <p:cNvPr id="341" name="Google Shape;341;p23"/>
          <p:cNvSpPr txBox="1"/>
          <p:nvPr/>
        </p:nvSpPr>
        <p:spPr>
          <a:xfrm>
            <a:off x="6419850" y="3333750"/>
            <a:ext cx="2195512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Ejecuta Database.insert(false) para no detener el lote si una factura falla.</a:t>
            </a:r>
            <a:endParaRPr/>
          </a:p>
        </p:txBody>
      </p:sp>
      <p:sp>
        <p:nvSpPr>
          <p:cNvPr id="342" name="Google Shape;342;p23"/>
          <p:cNvSpPr txBox="1"/>
          <p:nvPr/>
        </p:nvSpPr>
        <p:spPr>
          <a:xfrm>
            <a:off x="9167812" y="3028950"/>
            <a:ext cx="275659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Auditoría Log</a:t>
            </a:r>
            <a:endParaRPr/>
          </a:p>
        </p:txBody>
      </p:sp>
      <p:sp>
        <p:nvSpPr>
          <p:cNvPr id="343" name="Google Shape;343;p23"/>
          <p:cNvSpPr txBox="1"/>
          <p:nvPr/>
        </p:nvSpPr>
        <p:spPr>
          <a:xfrm>
            <a:off x="9167812" y="3333750"/>
            <a:ext cx="2195512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Guarda trazas de éxito o error en VRT_LogProceso__c y envía el email.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4"/>
          <p:cNvSpPr/>
          <p:nvPr/>
        </p:nvSpPr>
        <p:spPr>
          <a:xfrm>
            <a:off x="685800" y="2338685"/>
            <a:ext cx="5276850" cy="2656879"/>
          </a:xfrm>
          <a:prstGeom prst="roundRect">
            <a:avLst>
              <a:gd fmla="val 430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4"/>
          <p:cNvSpPr/>
          <p:nvPr/>
        </p:nvSpPr>
        <p:spPr>
          <a:xfrm>
            <a:off x="6229350" y="2338685"/>
            <a:ext cx="5276850" cy="2656879"/>
          </a:xfrm>
          <a:prstGeom prst="roundRect">
            <a:avLst>
              <a:gd fmla="val 430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4"/>
          <p:cNvSpPr/>
          <p:nvPr/>
        </p:nvSpPr>
        <p:spPr>
          <a:xfrm>
            <a:off x="962025" y="2614910"/>
            <a:ext cx="47244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4"/>
          <p:cNvSpPr/>
          <p:nvPr/>
        </p:nvSpPr>
        <p:spPr>
          <a:xfrm>
            <a:off x="6505575" y="2614910"/>
            <a:ext cx="47244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4"/>
          <p:cNvSpPr/>
          <p:nvPr/>
        </p:nvSpPr>
        <p:spPr>
          <a:xfrm>
            <a:off x="962025" y="2995910"/>
            <a:ext cx="47244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4"/>
          <p:cNvSpPr/>
          <p:nvPr/>
        </p:nvSpPr>
        <p:spPr>
          <a:xfrm>
            <a:off x="6505575" y="2995910"/>
            <a:ext cx="47244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4" name="Google Shape;3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025" y="265301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05575" y="2653010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4"/>
          <p:cNvSpPr txBox="1"/>
          <p:nvPr/>
        </p:nvSpPr>
        <p:spPr>
          <a:xfrm>
            <a:off x="-333375" y="6124575"/>
            <a:ext cx="12858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Diseñado para soportar auditorías de código Salesforce CodeScan y Checkmarx.</a:t>
            </a:r>
            <a:endParaRPr/>
          </a:p>
        </p:txBody>
      </p:sp>
      <p:sp>
        <p:nvSpPr>
          <p:cNvPr id="357" name="Google Shape;357;p24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11. BUENAS PRÁCTICAS ENTERPRISE</a:t>
            </a:r>
            <a:endParaRPr/>
          </a:p>
        </p:txBody>
      </p:sp>
      <p:sp>
        <p:nvSpPr>
          <p:cNvPr id="358" name="Google Shape;358;p24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Seguridad y Calidad del Software</a:t>
            </a:r>
            <a:endParaRPr/>
          </a:p>
        </p:txBody>
      </p:sp>
      <p:sp>
        <p:nvSpPr>
          <p:cNvPr id="359" name="Google Shape;359;p24"/>
          <p:cNvSpPr txBox="1"/>
          <p:nvPr/>
        </p:nvSpPr>
        <p:spPr>
          <a:xfrm>
            <a:off x="1266825" y="2614910"/>
            <a:ext cx="286285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Seguridad Salesforce</a:t>
            </a:r>
            <a:endParaRPr/>
          </a:p>
        </p:txBody>
      </p:sp>
      <p:sp>
        <p:nvSpPr>
          <p:cNvPr id="360" name="Google Shape;360;p24"/>
          <p:cNvSpPr txBox="1"/>
          <p:nvPr/>
        </p:nvSpPr>
        <p:spPr>
          <a:xfrm>
            <a:off x="962025" y="3176885"/>
            <a:ext cx="59055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with sharing: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 todos los controladores Apex.</a:t>
            </a:r>
            <a:endParaRPr/>
          </a:p>
        </p:txBody>
      </p:sp>
      <p:sp>
        <p:nvSpPr>
          <p:cNvPr id="361" name="Google Shape;361;p24"/>
          <p:cNvSpPr txBox="1"/>
          <p:nvPr/>
        </p:nvSpPr>
        <p:spPr>
          <a:xfrm>
            <a:off x="962025" y="3531096"/>
            <a:ext cx="481965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WITH USER_MODE: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Cláusula SOQL en queries desde LWC.</a:t>
            </a:r>
            <a:endParaRPr/>
          </a:p>
        </p:txBody>
      </p:sp>
      <p:sp>
        <p:nvSpPr>
          <p:cNvPr id="362" name="Google Shape;362;p24"/>
          <p:cNvSpPr txBox="1"/>
          <p:nvPr/>
        </p:nvSpPr>
        <p:spPr>
          <a:xfrm>
            <a:off x="962025" y="4125217"/>
            <a:ext cx="59055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Validación CRUD/FLS: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Respeta permisos del perfil activo.</a:t>
            </a:r>
            <a:endParaRPr/>
          </a:p>
        </p:txBody>
      </p:sp>
      <p:sp>
        <p:nvSpPr>
          <p:cNvPr id="363" name="Google Shape;363;p24"/>
          <p:cNvSpPr txBox="1"/>
          <p:nvPr/>
        </p:nvSpPr>
        <p:spPr>
          <a:xfrm>
            <a:off x="962025" y="4479428"/>
            <a:ext cx="59055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Bind Variables: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Prevención nativa de SOQL Injection.</a:t>
            </a:r>
            <a:endParaRPr/>
          </a:p>
        </p:txBody>
      </p:sp>
      <p:sp>
        <p:nvSpPr>
          <p:cNvPr id="364" name="Google Shape;364;p24"/>
          <p:cNvSpPr txBox="1"/>
          <p:nvPr/>
        </p:nvSpPr>
        <p:spPr>
          <a:xfrm>
            <a:off x="6858000" y="2614910"/>
            <a:ext cx="302537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Calidad y Rendimiento</a:t>
            </a:r>
            <a:endParaRPr/>
          </a:p>
        </p:txBody>
      </p:sp>
      <p:sp>
        <p:nvSpPr>
          <p:cNvPr id="365" name="Google Shape;365;p24"/>
          <p:cNvSpPr txBox="1"/>
          <p:nvPr/>
        </p:nvSpPr>
        <p:spPr>
          <a:xfrm>
            <a:off x="6505575" y="3176885"/>
            <a:ext cx="56864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Cero SOQL/DML: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Ninguna query dentro de bucles for.</a:t>
            </a:r>
            <a:endParaRPr/>
          </a:p>
        </p:txBody>
      </p:sp>
      <p:sp>
        <p:nvSpPr>
          <p:cNvPr id="366" name="Google Shape;366;p24"/>
          <p:cNvSpPr txBox="1"/>
          <p:nvPr/>
        </p:nvSpPr>
        <p:spPr>
          <a:xfrm>
            <a:off x="6505575" y="3531096"/>
            <a:ext cx="481965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Estructuras Map/Set: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Acceso a memoria en tiempo constante O(1).</a:t>
            </a:r>
            <a:endParaRPr/>
          </a:p>
        </p:txBody>
      </p:sp>
      <p:sp>
        <p:nvSpPr>
          <p:cNvPr id="367" name="Google Shape;367;p24"/>
          <p:cNvSpPr txBox="1"/>
          <p:nvPr/>
        </p:nvSpPr>
        <p:spPr>
          <a:xfrm>
            <a:off x="6505575" y="4125217"/>
            <a:ext cx="56864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 Data Factory: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Factoría de datos reutilizable y aislada.</a:t>
            </a:r>
            <a:endParaRPr/>
          </a:p>
        </p:txBody>
      </p:sp>
      <p:sp>
        <p:nvSpPr>
          <p:cNvPr id="368" name="Google Shape;368;p24"/>
          <p:cNvSpPr txBox="1"/>
          <p:nvPr/>
        </p:nvSpPr>
        <p:spPr>
          <a:xfrm>
            <a:off x="6505575" y="4479428"/>
            <a:ext cx="56864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Cobertura &gt; 85%: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Tests unitarios, negativos, límites y bulk.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5"/>
          <p:cNvSpPr/>
          <p:nvPr/>
        </p:nvSpPr>
        <p:spPr>
          <a:xfrm>
            <a:off x="685800" y="2212776"/>
            <a:ext cx="5515421" cy="2908696"/>
          </a:xfrm>
          <a:prstGeom prst="roundRect">
            <a:avLst>
              <a:gd fmla="val 327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5"/>
          <p:cNvSpPr/>
          <p:nvPr/>
        </p:nvSpPr>
        <p:spPr>
          <a:xfrm>
            <a:off x="6467921" y="2212776"/>
            <a:ext cx="5038278" cy="2908696"/>
          </a:xfrm>
          <a:prstGeom prst="roundRect">
            <a:avLst>
              <a:gd fmla="val 3274" name="adj"/>
            </a:avLst>
          </a:prstGeom>
          <a:solidFill>
            <a:srgbClr val="090D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5"/>
          <p:cNvSpPr/>
          <p:nvPr/>
        </p:nvSpPr>
        <p:spPr>
          <a:xfrm>
            <a:off x="6696521" y="2603301"/>
            <a:ext cx="4581078" cy="2118121"/>
          </a:xfrm>
          <a:prstGeom prst="roundRect">
            <a:avLst>
              <a:gd fmla="val 2698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6" name="Google Shape;37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301466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7" name="Google Shape;37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3328987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8" name="Google Shape;37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364331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9" name="Google Shape;37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3957637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0" name="Google Shape;38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4271962"/>
            <a:ext cx="1143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5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12. VALIDACIÓN Y DESPLIEGUE</a:t>
            </a:r>
            <a:endParaRPr/>
          </a:p>
        </p:txBody>
      </p:sp>
      <p:sp>
        <p:nvSpPr>
          <p:cNvPr id="382" name="Google Shape;382;p25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Estrategia de Pruebas y Salesforce DX</a:t>
            </a:r>
            <a:endParaRPr/>
          </a:p>
        </p:txBody>
      </p:sp>
      <p:sp>
        <p:nvSpPr>
          <p:cNvPr id="383" name="Google Shape;383;p25"/>
          <p:cNvSpPr txBox="1"/>
          <p:nvPr/>
        </p:nvSpPr>
        <p:spPr>
          <a:xfrm>
            <a:off x="685800" y="6124575"/>
            <a:ext cx="40719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Suite de pruebas persistida en repositorio Git</a:t>
            </a:r>
            <a:endParaRPr/>
          </a:p>
        </p:txBody>
      </p:sp>
      <p:sp>
        <p:nvSpPr>
          <p:cNvPr id="384" name="Google Shape;384;p25"/>
          <p:cNvSpPr txBox="1"/>
          <p:nvPr/>
        </p:nvSpPr>
        <p:spPr>
          <a:xfrm>
            <a:off x="8496300" y="6124575"/>
            <a:ext cx="3695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Cobertura objetivo superior al 85% global</a:t>
            </a:r>
            <a:endParaRPr/>
          </a:p>
        </p:txBody>
      </p:sp>
      <p:sp>
        <p:nvSpPr>
          <p:cNvPr id="385" name="Google Shape;385;p25"/>
          <p:cNvSpPr txBox="1"/>
          <p:nvPr/>
        </p:nvSpPr>
        <p:spPr>
          <a:xfrm>
            <a:off x="923925" y="2450901"/>
            <a:ext cx="66139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Escenarios Clave Validados</a:t>
            </a:r>
            <a:endParaRPr/>
          </a:p>
        </p:txBody>
      </p:sp>
      <p:sp>
        <p:nvSpPr>
          <p:cNvPr id="386" name="Google Shape;386;p25"/>
          <p:cNvSpPr txBox="1"/>
          <p:nvPr/>
        </p:nvSpPr>
        <p:spPr>
          <a:xfrm>
            <a:off x="923925" y="4702373"/>
            <a:ext cx="6298964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Tests aislados con Test.startTest() y Test.stopTest()</a:t>
            </a:r>
            <a:endParaRPr/>
          </a:p>
        </p:txBody>
      </p:sp>
      <p:sp>
        <p:nvSpPr>
          <p:cNvPr id="387" name="Google Shape;387;p25"/>
          <p:cNvSpPr txBox="1"/>
          <p:nvPr/>
        </p:nvSpPr>
        <p:spPr>
          <a:xfrm>
            <a:off x="6696521" y="2441376"/>
            <a:ext cx="5495478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CICLO DE DESPLIEGUE SALESFORCE CLI (DX)</a:t>
            </a:r>
            <a:endParaRPr/>
          </a:p>
        </p:txBody>
      </p:sp>
      <p:sp>
        <p:nvSpPr>
          <p:cNvPr id="388" name="Google Shape;388;p25"/>
          <p:cNvSpPr txBox="1"/>
          <p:nvPr/>
        </p:nvSpPr>
        <p:spPr>
          <a:xfrm>
            <a:off x="6848921" y="2755701"/>
            <a:ext cx="4371528" cy="1813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1. Despliegue de metadatos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sf</a:t>
            </a:r>
            <a:r>
              <a:rPr b="0" i="0" lang="en-US" sz="105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project deploy start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2. Carga datos demo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sf</a:t>
            </a:r>
            <a:r>
              <a:rPr b="0" i="0" lang="en-US" sz="105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apex run --file scripts/apex/insertSampleData.apex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3. Ejecución de test suite con cobertura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sf</a:t>
            </a:r>
            <a:r>
              <a:rPr b="0" i="0" lang="en-US" sz="105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apex run test --code-coverage --wait 10</a:t>
            </a:r>
            <a:endParaRPr/>
          </a:p>
        </p:txBody>
      </p:sp>
      <p:sp>
        <p:nvSpPr>
          <p:cNvPr id="389" name="Google Shape;389;p25"/>
          <p:cNvSpPr txBox="1"/>
          <p:nvPr/>
        </p:nvSpPr>
        <p:spPr>
          <a:xfrm>
            <a:off x="6696521" y="4721423"/>
            <a:ext cx="549547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Reproducible en cualquier Scratch Org o Sandbox en minutos.</a:t>
            </a:r>
            <a:endParaRPr/>
          </a:p>
        </p:txBody>
      </p:sp>
      <p:sp>
        <p:nvSpPr>
          <p:cNvPr id="390" name="Google Shape;390;p25"/>
          <p:cNvSpPr txBox="1"/>
          <p:nvPr/>
        </p:nvSpPr>
        <p:spPr>
          <a:xfrm>
            <a:off x="1133475" y="2971800"/>
            <a:ext cx="58935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Precio base, cálculo por temporada y descuento fidelidad.</a:t>
            </a:r>
            <a:endParaRPr/>
          </a:p>
        </p:txBody>
      </p:sp>
      <p:sp>
        <p:nvSpPr>
          <p:cNvPr id="391" name="Google Shape;391;p25"/>
          <p:cNvSpPr txBox="1"/>
          <p:nvPr/>
        </p:nvSpPr>
        <p:spPr>
          <a:xfrm>
            <a:off x="1133475" y="3286125"/>
            <a:ext cx="55721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Detección de solapamiento y continuidad misma fecha.</a:t>
            </a:r>
            <a:endParaRPr/>
          </a:p>
        </p:txBody>
      </p:sp>
      <p:sp>
        <p:nvSpPr>
          <p:cNvPr id="392" name="Google Shape;392;p25"/>
          <p:cNvSpPr txBox="1"/>
          <p:nvPr/>
        </p:nvSpPr>
        <p:spPr>
          <a:xfrm>
            <a:off x="1133475" y="3600450"/>
            <a:ext cx="535781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Inserción masiva de lote de 200 reservas simultáneas.</a:t>
            </a:r>
            <a:endParaRPr/>
          </a:p>
        </p:txBody>
      </p:sp>
      <p:sp>
        <p:nvSpPr>
          <p:cNvPr id="393" name="Google Shape;393;p25"/>
          <p:cNvSpPr txBox="1"/>
          <p:nvPr/>
        </p:nvSpPr>
        <p:spPr>
          <a:xfrm>
            <a:off x="1133475" y="3914775"/>
            <a:ext cx="55125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Enrutamiento a aprobador según umbrales monetarios.</a:t>
            </a:r>
            <a:endParaRPr/>
          </a:p>
        </p:txBody>
      </p:sp>
      <p:sp>
        <p:nvSpPr>
          <p:cNvPr id="394" name="Google Shape;394;p25"/>
          <p:cNvSpPr txBox="1"/>
          <p:nvPr/>
        </p:nvSpPr>
        <p:spPr>
          <a:xfrm>
            <a:off x="1133475" y="4229100"/>
            <a:ext cx="541734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Simulación de facturas duplicadas y tolerancia a fallos.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6"/>
          <p:cNvSpPr/>
          <p:nvPr/>
        </p:nvSpPr>
        <p:spPr>
          <a:xfrm>
            <a:off x="685800" y="5810250"/>
            <a:ext cx="10820400" cy="514350"/>
          </a:xfrm>
          <a:prstGeom prst="roundRect">
            <a:avLst>
              <a:gd fmla="val 14814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6"/>
          <p:cNvSpPr/>
          <p:nvPr/>
        </p:nvSpPr>
        <p:spPr>
          <a:xfrm>
            <a:off x="685800" y="2152650"/>
            <a:ext cx="5295900" cy="2714625"/>
          </a:xfrm>
          <a:prstGeom prst="roundRect">
            <a:avLst>
              <a:gd fmla="val 350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6"/>
          <p:cNvSpPr/>
          <p:nvPr/>
        </p:nvSpPr>
        <p:spPr>
          <a:xfrm>
            <a:off x="6210300" y="2152650"/>
            <a:ext cx="5295900" cy="2714625"/>
          </a:xfrm>
          <a:prstGeom prst="roundRect">
            <a:avLst>
              <a:gd fmla="val 350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6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13. MADUREZ DE SOLUCIÓN</a:t>
            </a:r>
            <a:endParaRPr/>
          </a:p>
        </p:txBody>
      </p:sp>
      <p:sp>
        <p:nvSpPr>
          <p:cNvPr id="403" name="Google Shape;403;p26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Decisiones de Diseño y Evolución Futura</a:t>
            </a:r>
            <a:endParaRPr/>
          </a:p>
        </p:txBody>
      </p:sp>
      <p:sp>
        <p:nvSpPr>
          <p:cNvPr id="404" name="Google Shape;404;p26"/>
          <p:cNvSpPr txBox="1"/>
          <p:nvPr/>
        </p:nvSpPr>
        <p:spPr>
          <a:xfrm>
            <a:off x="914400" y="5962650"/>
            <a:ext cx="16668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Filosofía técnica:</a:t>
            </a:r>
            <a:endParaRPr/>
          </a:p>
        </p:txBody>
      </p:sp>
      <p:sp>
        <p:nvSpPr>
          <p:cNvPr id="405" name="Google Shape;405;p26"/>
          <p:cNvSpPr txBox="1"/>
          <p:nvPr/>
        </p:nvSpPr>
        <p:spPr>
          <a:xfrm>
            <a:off x="3600450" y="5962650"/>
            <a:ext cx="85915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Una base escalable preparada para crecer hacia integraciones externas y portales Experience Cloud.</a:t>
            </a:r>
            <a:endParaRPr/>
          </a:p>
        </p:txBody>
      </p:sp>
      <p:sp>
        <p:nvSpPr>
          <p:cNvPr id="406" name="Google Shape;406;p26"/>
          <p:cNvSpPr txBox="1"/>
          <p:nvPr/>
        </p:nvSpPr>
        <p:spPr>
          <a:xfrm>
            <a:off x="923925" y="2390775"/>
            <a:ext cx="60245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ARQUITECTURA ACTUAL</a:t>
            </a:r>
            <a:endParaRPr/>
          </a:p>
        </p:txBody>
      </p:sp>
      <p:sp>
        <p:nvSpPr>
          <p:cNvPr id="407" name="Google Shape;407;p26"/>
          <p:cNvSpPr txBox="1"/>
          <p:nvPr/>
        </p:nvSpPr>
        <p:spPr>
          <a:xfrm>
            <a:off x="923925" y="2676525"/>
            <a:ext cx="632579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Decisiones Clave</a:t>
            </a:r>
            <a:endParaRPr/>
          </a:p>
        </p:txBody>
      </p:sp>
      <p:sp>
        <p:nvSpPr>
          <p:cNvPr id="408" name="Google Shape;408;p26"/>
          <p:cNvSpPr txBox="1"/>
          <p:nvPr/>
        </p:nvSpPr>
        <p:spPr>
          <a:xfrm>
            <a:off x="6448425" y="2390775"/>
            <a:ext cx="57435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ROADMAP TÉCNICO</a:t>
            </a:r>
            <a:endParaRPr/>
          </a:p>
        </p:txBody>
      </p:sp>
      <p:sp>
        <p:nvSpPr>
          <p:cNvPr id="409" name="Google Shape;409;p26"/>
          <p:cNvSpPr txBox="1"/>
          <p:nvPr/>
        </p:nvSpPr>
        <p:spPr>
          <a:xfrm>
            <a:off x="6448425" y="2676525"/>
            <a:ext cx="57435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Siguientes Pasos</a:t>
            </a:r>
            <a:endParaRPr/>
          </a:p>
        </p:txBody>
      </p:sp>
      <p:sp>
        <p:nvSpPr>
          <p:cNvPr id="410" name="Google Shape;410;p26"/>
          <p:cNvSpPr txBox="1"/>
          <p:nvPr/>
        </p:nvSpPr>
        <p:spPr>
          <a:xfrm>
            <a:off x="923925" y="3028950"/>
            <a:ext cx="60245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Server-side rules: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Seguridad no delegada en cliente.</a:t>
            </a:r>
            <a:endParaRPr/>
          </a:p>
        </p:txBody>
      </p:sp>
      <p:sp>
        <p:nvSpPr>
          <p:cNvPr id="411" name="Google Shape;411;p26"/>
          <p:cNvSpPr txBox="1"/>
          <p:nvPr/>
        </p:nvSpPr>
        <p:spPr>
          <a:xfrm>
            <a:off x="923925" y="3343275"/>
            <a:ext cx="60245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Servicios modulares: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Desacople de responsabilidades.</a:t>
            </a:r>
            <a:endParaRPr/>
          </a:p>
        </p:txBody>
      </p:sp>
      <p:sp>
        <p:nvSpPr>
          <p:cNvPr id="412" name="Google Shape;412;p26"/>
          <p:cNvSpPr txBox="1"/>
          <p:nvPr/>
        </p:nvSpPr>
        <p:spPr>
          <a:xfrm>
            <a:off x="923925" y="3657600"/>
            <a:ext cx="60245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Queueable: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Desacople de procesos pesados.</a:t>
            </a:r>
            <a:endParaRPr/>
          </a:p>
        </p:txBody>
      </p:sp>
      <p:sp>
        <p:nvSpPr>
          <p:cNvPr id="413" name="Google Shape;413;p26"/>
          <p:cNvSpPr txBox="1"/>
          <p:nvPr/>
        </p:nvSpPr>
        <p:spPr>
          <a:xfrm>
            <a:off x="923925" y="3971925"/>
            <a:ext cx="60245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Tarifas configurables: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Autonomía de negocio.</a:t>
            </a:r>
            <a:endParaRPr/>
          </a:p>
        </p:txBody>
      </p:sp>
      <p:sp>
        <p:nvSpPr>
          <p:cNvPr id="414" name="Google Shape;414;p26"/>
          <p:cNvSpPr txBox="1"/>
          <p:nvPr/>
        </p:nvSpPr>
        <p:spPr>
          <a:xfrm>
            <a:off x="6448425" y="3028950"/>
            <a:ext cx="57435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Idempotencia dura: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External ID único en factura.</a:t>
            </a:r>
            <a:endParaRPr/>
          </a:p>
        </p:txBody>
      </p:sp>
      <p:sp>
        <p:nvSpPr>
          <p:cNvPr id="415" name="Google Shape;415;p26"/>
          <p:cNvSpPr txBox="1"/>
          <p:nvPr/>
        </p:nvSpPr>
        <p:spPr>
          <a:xfrm>
            <a:off x="6448425" y="3343275"/>
            <a:ext cx="49149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Concurrencia: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Bloqueo pesimista para reservas simultáneas.</a:t>
            </a:r>
            <a:endParaRPr/>
          </a:p>
        </p:txBody>
      </p:sp>
      <p:sp>
        <p:nvSpPr>
          <p:cNvPr id="416" name="Google Shape;416;p26"/>
          <p:cNvSpPr txBox="1"/>
          <p:nvPr/>
        </p:nvSpPr>
        <p:spPr>
          <a:xfrm>
            <a:off x="6448425" y="3876675"/>
            <a:ext cx="49149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Alertas operativas: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Integración con plataforma Slack/Events.</a:t>
            </a:r>
            <a:endParaRPr/>
          </a:p>
        </p:txBody>
      </p:sp>
      <p:sp>
        <p:nvSpPr>
          <p:cNvPr id="417" name="Google Shape;417;p26"/>
          <p:cNvSpPr txBox="1"/>
          <p:nvPr/>
        </p:nvSpPr>
        <p:spPr>
          <a:xfrm>
            <a:off x="6448425" y="4410075"/>
            <a:ext cx="57435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Volumetría: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Stress testing en org de gran volumen.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7"/>
          <p:cNvSpPr/>
          <p:nvPr/>
        </p:nvSpPr>
        <p:spPr>
          <a:xfrm>
            <a:off x="5424487" y="1531739"/>
            <a:ext cx="1343025" cy="304800"/>
          </a:xfrm>
          <a:prstGeom prst="roundRect">
            <a:avLst>
              <a:gd fmla="val 18750" name="adj"/>
            </a:avLst>
          </a:prstGeom>
          <a:solidFill>
            <a:srgbClr val="081F31"/>
          </a:solidFill>
          <a:ln cap="flat" cmpd="sng" w="95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7"/>
          <p:cNvSpPr/>
          <p:nvPr/>
        </p:nvSpPr>
        <p:spPr>
          <a:xfrm>
            <a:off x="5791200" y="4278510"/>
            <a:ext cx="6096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7"/>
          <p:cNvSpPr txBox="1"/>
          <p:nvPr/>
        </p:nvSpPr>
        <p:spPr>
          <a:xfrm>
            <a:off x="5409009" y="1588889"/>
            <a:ext cx="137398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CONCLUSIÓN</a:t>
            </a:r>
            <a:endParaRPr/>
          </a:p>
        </p:txBody>
      </p:sp>
      <p:sp>
        <p:nvSpPr>
          <p:cNvPr id="425" name="Google Shape;425;p27"/>
          <p:cNvSpPr txBox="1"/>
          <p:nvPr/>
        </p:nvSpPr>
        <p:spPr>
          <a:xfrm>
            <a:off x="773459" y="2027039"/>
            <a:ext cx="10645080" cy="1051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plataforma absorbe la complejidad;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4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el usuario opera con sencillez.</a:t>
            </a:r>
            <a:endParaRPr/>
          </a:p>
        </p:txBody>
      </p:sp>
      <p:sp>
        <p:nvSpPr>
          <p:cNvPr id="426" name="Google Shape;426;p27"/>
          <p:cNvSpPr txBox="1"/>
          <p:nvPr/>
        </p:nvSpPr>
        <p:spPr>
          <a:xfrm>
            <a:off x="857250" y="3326010"/>
            <a:ext cx="10477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 flujo completo sobre Salesforce: Modelo robusto, lógica bulk-safe, componentes LWC reactivos y control de negocio declarativo.</a:t>
            </a:r>
            <a:endParaRPr/>
          </a:p>
        </p:txBody>
      </p:sp>
      <p:sp>
        <p:nvSpPr>
          <p:cNvPr id="427" name="Google Shape;427;p27"/>
          <p:cNvSpPr txBox="1"/>
          <p:nvPr/>
        </p:nvSpPr>
        <p:spPr>
          <a:xfrm>
            <a:off x="3833217" y="4649985"/>
            <a:ext cx="452556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Turno de Preguntas</a:t>
            </a:r>
            <a:endParaRPr/>
          </a:p>
        </p:txBody>
      </p:sp>
      <p:sp>
        <p:nvSpPr>
          <p:cNvPr id="428" name="Google Shape;428;p27"/>
          <p:cNvSpPr txBox="1"/>
          <p:nvPr/>
        </p:nvSpPr>
        <p:spPr>
          <a:xfrm>
            <a:off x="3940968" y="5107185"/>
            <a:ext cx="43100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Ignacio Castillo · Solución Técnica NTT Data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